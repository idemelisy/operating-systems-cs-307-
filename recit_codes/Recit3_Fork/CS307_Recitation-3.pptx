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261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853"/>
  </p:normalViewPr>
  <p:slideViewPr>
    <p:cSldViewPr snapToGrid="0" showGuides="1">
      <p:cViewPr varScale="1">
        <p:scale>
          <a:sx n="122" d="100"/>
          <a:sy n="122" d="100"/>
        </p:scale>
        <p:origin x="114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D93C-C3A0-FA45-8807-7D2A8715801E}" type="datetimeFigureOut">
              <a:rPr lang="en-TR" smtClean="0"/>
              <a:t>02/27/2025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1136BE2-BBBA-DF4A-9A49-9FBFA6C21316}" type="slidenum">
              <a:rPr lang="en-TR" smtClean="0"/>
              <a:t>‹#›</a:t>
            </a:fld>
            <a:endParaRPr lang="en-T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846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D93C-C3A0-FA45-8807-7D2A8715801E}" type="datetimeFigureOut">
              <a:rPr lang="en-TR" smtClean="0"/>
              <a:t>02/27/2025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36BE2-BBBA-DF4A-9A49-9FBFA6C21316}" type="slidenum">
              <a:rPr lang="en-TR" smtClean="0"/>
              <a:t>‹#›</a:t>
            </a:fld>
            <a:endParaRPr lang="en-TR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199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D93C-C3A0-FA45-8807-7D2A8715801E}" type="datetimeFigureOut">
              <a:rPr lang="en-TR" smtClean="0"/>
              <a:t>02/27/2025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36BE2-BBBA-DF4A-9A49-9FBFA6C21316}" type="slidenum">
              <a:rPr lang="en-TR" smtClean="0"/>
              <a:t>‹#›</a:t>
            </a:fld>
            <a:endParaRPr lang="en-T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517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D93C-C3A0-FA45-8807-7D2A8715801E}" type="datetimeFigureOut">
              <a:rPr lang="en-TR" smtClean="0"/>
              <a:t>02/27/2025</a:t>
            </a:fld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36BE2-BBBA-DF4A-9A49-9FBFA6C21316}" type="slidenum">
              <a:rPr lang="en-TR" smtClean="0"/>
              <a:t>‹#›</a:t>
            </a:fld>
            <a:endParaRPr lang="en-TR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185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D93C-C3A0-FA45-8807-7D2A8715801E}" type="datetimeFigureOut">
              <a:rPr lang="en-TR" smtClean="0"/>
              <a:t>02/27/2025</a:t>
            </a:fld>
            <a:endParaRPr lang="en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36BE2-BBBA-DF4A-9A49-9FBFA6C21316}" type="slidenum">
              <a:rPr lang="en-TR" smtClean="0"/>
              <a:t>‹#›</a:t>
            </a:fld>
            <a:endParaRPr lang="en-TR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006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D93C-C3A0-FA45-8807-7D2A8715801E}" type="datetimeFigureOut">
              <a:rPr lang="en-TR" smtClean="0"/>
              <a:t>02/27/2025</a:t>
            </a:fld>
            <a:endParaRPr lang="en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36BE2-BBBA-DF4A-9A49-9FBFA6C21316}" type="slidenum">
              <a:rPr lang="en-TR" smtClean="0"/>
              <a:t>‹#›</a:t>
            </a:fld>
            <a:endParaRPr lang="en-TR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470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D93C-C3A0-FA45-8807-7D2A8715801E}" type="datetimeFigureOut">
              <a:rPr lang="en-TR" smtClean="0"/>
              <a:t>02/27/2025</a:t>
            </a:fld>
            <a:endParaRPr lang="en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36BE2-BBBA-DF4A-9A49-9FBFA6C2131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095475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D93C-C3A0-FA45-8807-7D2A8715801E}" type="datetimeFigureOut">
              <a:rPr lang="en-TR" smtClean="0"/>
              <a:t>02/27/2025</a:t>
            </a:fld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36BE2-BBBA-DF4A-9A49-9FBFA6C21316}" type="slidenum">
              <a:rPr lang="en-TR" smtClean="0"/>
              <a:t>‹#›</a:t>
            </a:fld>
            <a:endParaRPr lang="en-TR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875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364D93C-C3A0-FA45-8807-7D2A8715801E}" type="datetimeFigureOut">
              <a:rPr lang="en-TR" smtClean="0"/>
              <a:t>02/27/2025</a:t>
            </a:fld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36BE2-BBBA-DF4A-9A49-9FBFA6C21316}" type="slidenum">
              <a:rPr lang="en-TR" smtClean="0"/>
              <a:t>‹#›</a:t>
            </a:fld>
            <a:endParaRPr lang="en-TR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618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D93C-C3A0-FA45-8807-7D2A8715801E}" type="datetimeFigureOut">
              <a:rPr lang="en-TR" smtClean="0"/>
              <a:t>02/27/2025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36BE2-BBBA-DF4A-9A49-9FBFA6C21316}" type="slidenum">
              <a:rPr lang="en-TR" smtClean="0"/>
              <a:t>‹#›</a:t>
            </a:fld>
            <a:endParaRPr lang="en-TR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775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D93C-C3A0-FA45-8807-7D2A8715801E}" type="datetimeFigureOut">
              <a:rPr lang="en-TR" smtClean="0"/>
              <a:t>02/27/2025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36BE2-BBBA-DF4A-9A49-9FBFA6C21316}" type="slidenum">
              <a:rPr lang="en-TR" smtClean="0"/>
              <a:t>‹#›</a:t>
            </a:fld>
            <a:endParaRPr lang="en-TR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329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4D93C-C3A0-FA45-8807-7D2A8715801E}" type="datetimeFigureOut">
              <a:rPr lang="en-TR" smtClean="0"/>
              <a:t>02/27/2025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1136BE2-BBBA-DF4A-9A49-9FBFA6C21316}" type="slidenum">
              <a:rPr lang="en-TR" smtClean="0"/>
              <a:t>‹#›</a:t>
            </a:fld>
            <a:endParaRPr lang="en-TR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7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hmet.metin@sabanciuniv.edu" TargetMode="External"/><Relationship Id="rId2" Type="http://schemas.openxmlformats.org/officeDocument/2006/relationships/hyperlink" Target="mailto:gorkemyar@sabanciuniv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up-dup2-linux-system-call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7E04-F9F6-3493-0F3E-5D5115039A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TR" dirty="0"/>
              <a:t>CS307 Recitatıon 3</a:t>
            </a:r>
            <a:br>
              <a:rPr lang="en-TR" dirty="0"/>
            </a:br>
            <a:r>
              <a:rPr lang="en-TR" dirty="0"/>
              <a:t>Fork &amp; PIPE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EF5C36-9B1F-493E-3E95-C368989D63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cap="none" dirty="0"/>
              <a:t>G</a:t>
            </a:r>
            <a:r>
              <a:rPr lang="en-TR" cap="none" dirty="0"/>
              <a:t>orkem</a:t>
            </a:r>
            <a:r>
              <a:rPr lang="en-US" cap="none" dirty="0"/>
              <a:t> Y</a:t>
            </a:r>
            <a:r>
              <a:rPr lang="en-TR" cap="none" dirty="0"/>
              <a:t>ar</a:t>
            </a:r>
            <a:r>
              <a:rPr lang="en-US" cap="none" dirty="0"/>
              <a:t> - </a:t>
            </a:r>
            <a:r>
              <a:rPr lang="en-TR" cap="none" dirty="0">
                <a:hlinkClick r:id="rId2"/>
              </a:rPr>
              <a:t>gorkemyar@sabanciuniv.edu</a:t>
            </a:r>
            <a:endParaRPr lang="en-US" cap="none" dirty="0"/>
          </a:p>
          <a:p>
            <a:r>
              <a:rPr lang="en-US" cap="none" dirty="0"/>
              <a:t>Niyazi Ahmet Metin - </a:t>
            </a:r>
            <a:r>
              <a:rPr lang="en-US" cap="none" dirty="0" err="1">
                <a:hlinkClick r:id="rId3"/>
              </a:rPr>
              <a:t>ahmet.metin</a:t>
            </a:r>
            <a:r>
              <a:rPr lang="en-TR" cap="none" dirty="0">
                <a:hlinkClick r:id="rId3"/>
              </a:rPr>
              <a:t>@sabanciuniv.edu</a:t>
            </a:r>
            <a:endParaRPr lang="en-TR" cap="none" dirty="0"/>
          </a:p>
          <a:p>
            <a:endParaRPr lang="en-TR" cap="none" dirty="0"/>
          </a:p>
        </p:txBody>
      </p:sp>
    </p:spTree>
    <p:extLst>
      <p:ext uri="{BB962C8B-B14F-4D97-AF65-F5344CB8AC3E}">
        <p14:creationId xmlns:p14="http://schemas.microsoft.com/office/powerpoint/2010/main" val="3508059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0A28-9500-DF5F-0D71-12EF60CE2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FORK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04EF7-BEA4-CD57-6E3E-0BB30254C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TR" dirty="0"/>
              <a:t>Fork() is a system call.</a:t>
            </a:r>
          </a:p>
          <a:p>
            <a:r>
              <a:rPr lang="en-US" sz="2000" dirty="0"/>
              <a:t>When fork() is called, the operating system creates a new process by duplicating the entire address space of the parent process, including code, data, and stack.</a:t>
            </a:r>
          </a:p>
          <a:p>
            <a:r>
              <a:rPr lang="en-US" sz="2000" dirty="0"/>
              <a:t>After a child process is created, both processes will concurrently execute the same instruction following the fork() call.</a:t>
            </a:r>
          </a:p>
          <a:p>
            <a:r>
              <a:rPr lang="en-US" sz="2000" dirty="0"/>
              <a:t>Scheduler in CPU can reorder the execution of parent and child processes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982727-B5FE-42A3-BD34-8A1FC5BDA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986" y="303446"/>
            <a:ext cx="3172268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103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438FE-E9B9-2DA1-DCC6-089FEB8C9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 dirty="0"/>
              <a:t>Differences Between Parent and</a:t>
            </a:r>
            <a:r>
              <a:rPr lang="tr-TR" sz="3200" cap="none" dirty="0"/>
              <a:t> </a:t>
            </a:r>
            <a:r>
              <a:rPr lang="en-US" sz="3200" cap="none" dirty="0"/>
              <a:t>Child</a:t>
            </a:r>
            <a:br>
              <a:rPr lang="en-US" sz="3200" cap="none" dirty="0"/>
            </a:br>
            <a:endParaRPr lang="en-TR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8333E-0365-58ED-AB10-C5266B4BB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Autofit/>
          </a:bodyPr>
          <a:lstStyle/>
          <a:p>
            <a:pPr marL="986365" lvl="1" indent="-571500">
              <a:lnSpc>
                <a:spcPct val="150000"/>
              </a:lnSpc>
            </a:pPr>
            <a:r>
              <a:rPr lang="en-US" sz="2000" dirty="0"/>
              <a:t>Although parent and child processes start with identical memory and state, they evolve independently after the fork() call.</a:t>
            </a:r>
          </a:p>
          <a:p>
            <a:pPr marL="986365" lvl="1" indent="-571500">
              <a:lnSpc>
                <a:spcPct val="150000"/>
              </a:lnSpc>
            </a:pPr>
            <a:r>
              <a:rPr lang="en-US" sz="2000" dirty="0"/>
              <a:t>Changes made by one process do not affect the other.</a:t>
            </a:r>
          </a:p>
          <a:p>
            <a:pPr marL="829731" lvl="1" indent="-414866">
              <a:lnSpc>
                <a:spcPct val="150000"/>
              </a:lnSpc>
              <a:buFont typeface="Arial"/>
              <a:buChar char="•"/>
            </a:pPr>
            <a:r>
              <a:rPr lang="en-US" sz="2000" dirty="0"/>
              <a:t>The fork() call returns different values to the parent and child processes:</a:t>
            </a:r>
          </a:p>
          <a:p>
            <a:pPr marL="1659462" lvl="2" indent="-553154">
              <a:lnSpc>
                <a:spcPct val="150000"/>
              </a:lnSpc>
              <a:buFont typeface="Arial"/>
              <a:buChar char="⚬"/>
            </a:pPr>
            <a:r>
              <a:rPr lang="en-US" sz="2000" dirty="0"/>
              <a:t>In the parent process, it  the child's process ID (PID). (some positive number)</a:t>
            </a:r>
          </a:p>
          <a:p>
            <a:pPr marL="1659462" lvl="2" indent="-553154">
              <a:lnSpc>
                <a:spcPct val="150000"/>
              </a:lnSpc>
              <a:buFont typeface="Arial"/>
              <a:buChar char="⚬"/>
            </a:pPr>
            <a:r>
              <a:rPr lang="en-US" sz="2000" dirty="0"/>
              <a:t>In the child process, it returns 0, indicating that it is the child.</a:t>
            </a:r>
          </a:p>
          <a:p>
            <a:pPr marL="1659462" lvl="2" indent="-553154">
              <a:lnSpc>
                <a:spcPct val="150000"/>
              </a:lnSpc>
              <a:buFont typeface="Arial"/>
              <a:buChar char="⚬"/>
            </a:pPr>
            <a:r>
              <a:rPr lang="en-US" sz="2000" dirty="0"/>
              <a:t>If it returns some negative number, it means fork failed.</a:t>
            </a:r>
          </a:p>
        </p:txBody>
      </p:sp>
    </p:spTree>
    <p:extLst>
      <p:ext uri="{BB962C8B-B14F-4D97-AF65-F5344CB8AC3E}">
        <p14:creationId xmlns:p14="http://schemas.microsoft.com/office/powerpoint/2010/main" val="3938314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66CC7-95FC-703A-E8E9-50A9FC2DB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Some Functıons in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3BEF6-B658-4B0B-5938-5CECA67F5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TR" dirty="0">
                <a:solidFill>
                  <a:srgbClr val="FF0000"/>
                </a:solidFill>
              </a:rPr>
              <a:t>fork():</a:t>
            </a:r>
            <a:r>
              <a:rPr lang="en-TR" dirty="0"/>
              <a:t> </a:t>
            </a:r>
            <a:r>
              <a:rPr lang="en-US" dirty="0"/>
              <a:t>The Fork system call is used for creating a new process in Linux, and Unix systems, which is called the child process, which runs concurrently with the process that makes the fork() call (parent process)</a:t>
            </a:r>
            <a:endParaRPr lang="en-TR" dirty="0"/>
          </a:p>
          <a:p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TR" dirty="0">
                <a:solidFill>
                  <a:srgbClr val="FF0000"/>
                </a:solidFill>
              </a:rPr>
              <a:t>etpid(): </a:t>
            </a:r>
            <a:r>
              <a:rPr lang="en-US" dirty="0"/>
              <a:t>Returns the process ID of the calling process. This is often used by routines that generate unique temporary filenames. </a:t>
            </a:r>
            <a:endParaRPr lang="en-TR" dirty="0"/>
          </a:p>
          <a:p>
            <a:r>
              <a:rPr lang="en-US" dirty="0">
                <a:solidFill>
                  <a:srgbClr val="FF0000"/>
                </a:solidFill>
              </a:rPr>
              <a:t>w</a:t>
            </a:r>
            <a:r>
              <a:rPr lang="en-TR" dirty="0">
                <a:solidFill>
                  <a:srgbClr val="FF0000"/>
                </a:solidFill>
              </a:rPr>
              <a:t>ait(NULL):</a:t>
            </a:r>
            <a:r>
              <a:rPr lang="en-TR" dirty="0"/>
              <a:t> </a:t>
            </a:r>
            <a:r>
              <a:rPr lang="en-US" dirty="0"/>
              <a:t>A call to wait() blocks the calling process until one of its child processes exits or a signal is received. After child process terminates, parent continues its execution after wait system call instruction. </a:t>
            </a:r>
            <a:endParaRPr lang="en-TR" dirty="0"/>
          </a:p>
          <a:p>
            <a:r>
              <a:rPr lang="en-US" dirty="0">
                <a:solidFill>
                  <a:srgbClr val="FF0000"/>
                </a:solidFill>
              </a:rPr>
              <a:t>w</a:t>
            </a:r>
            <a:r>
              <a:rPr lang="en-TR" dirty="0">
                <a:solidFill>
                  <a:srgbClr val="FF0000"/>
                </a:solidFill>
              </a:rPr>
              <a:t>aitpid():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waitpid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() system call suspends execution of the current process until a child specified by 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pid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argument has changed state. By default, 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waitpid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() waits only for terminated children.</a:t>
            </a:r>
          </a:p>
          <a:p>
            <a:r>
              <a:rPr lang="en-US" dirty="0"/>
              <a:t>Examples from </a:t>
            </a:r>
            <a:r>
              <a:rPr lang="en-US" dirty="0" err="1"/>
              <a:t>Vscode</a:t>
            </a:r>
            <a:endParaRPr lang="en-TR" dirty="0"/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457135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937EE-587A-DD8E-C515-D3D9B5D67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Pipe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0A33A-2AA6-34EA-C44C-676899A98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</a:t>
            </a:r>
            <a:r>
              <a:rPr lang="en-TR" dirty="0"/>
              <a:t>ipe</a:t>
            </a:r>
            <a:r>
              <a:rPr lang="en-US" dirty="0"/>
              <a:t> is one-way communication. We can use a pipe such that one process write to the pipe, and the other process reads from the pipe. </a:t>
            </a:r>
            <a:endParaRPr lang="en-TR" dirty="0"/>
          </a:p>
          <a:p>
            <a:r>
              <a:rPr lang="en-TR" dirty="0"/>
              <a:t>Terminal:</a:t>
            </a:r>
          </a:p>
          <a:p>
            <a:pPr lvl="1"/>
            <a:r>
              <a:rPr lang="en-US" dirty="0">
                <a:solidFill>
                  <a:srgbClr val="333333"/>
                </a:solidFill>
                <a:latin typeface="-apple-system"/>
              </a:rPr>
              <a:t>C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onnects inputs and outputs of commands together using ”|</a:t>
            </a:r>
            <a:r>
              <a:rPr lang="en-TR" b="0" i="0" dirty="0">
                <a:solidFill>
                  <a:srgbClr val="333333"/>
                </a:solidFill>
                <a:effectLst/>
                <a:latin typeface="-apple-system"/>
              </a:rPr>
              <a:t>” </a:t>
            </a:r>
          </a:p>
          <a:p>
            <a:pPr lvl="1"/>
            <a:r>
              <a:rPr lang="en-TR" b="0" i="0" dirty="0">
                <a:solidFill>
                  <a:srgbClr val="333333"/>
                </a:solidFill>
                <a:effectLst/>
                <a:latin typeface="-apple-system"/>
              </a:rPr>
              <a:t>Try: </a:t>
            </a:r>
            <a:r>
              <a:rPr lang="en-TR" dirty="0">
                <a:solidFill>
                  <a:srgbClr val="333333"/>
                </a:solidFill>
                <a:latin typeface="-apple-system"/>
              </a:rPr>
              <a:t>man ls | grep </a:t>
            </a:r>
            <a:r>
              <a:rPr lang="en-US" dirty="0">
                <a:solidFill>
                  <a:srgbClr val="333333"/>
                </a:solidFill>
                <a:latin typeface="-apple-system"/>
              </a:rPr>
              <a:t>–e -</a:t>
            </a:r>
            <a:r>
              <a:rPr lang="en-TR" dirty="0">
                <a:solidFill>
                  <a:srgbClr val="333333"/>
                </a:solidFill>
                <a:latin typeface="-apple-system"/>
              </a:rPr>
              <a:t>a</a:t>
            </a:r>
          </a:p>
          <a:p>
            <a:pPr lvl="1"/>
            <a:r>
              <a:rPr lang="en-TR" b="0" i="0" dirty="0">
                <a:solidFill>
                  <a:srgbClr val="333333"/>
                </a:solidFill>
                <a:effectLst/>
                <a:latin typeface="-apple-system"/>
              </a:rPr>
              <a:t>It will return the functionality of the “</a:t>
            </a:r>
            <a:r>
              <a:rPr lang="en-TR" dirty="0">
                <a:solidFill>
                  <a:srgbClr val="333333"/>
                </a:solidFill>
                <a:latin typeface="-apple-system"/>
              </a:rPr>
              <a:t>–a” option for ls command (-e option enables dash “-” to be written as an argument).</a:t>
            </a:r>
          </a:p>
        </p:txBody>
      </p:sp>
    </p:spTree>
    <p:extLst>
      <p:ext uri="{BB962C8B-B14F-4D97-AF65-F5344CB8AC3E}">
        <p14:creationId xmlns:p14="http://schemas.microsoft.com/office/powerpoint/2010/main" val="4168333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R"/>
          </a:p>
        </p:txBody>
      </p:sp>
      <p:pic>
        <p:nvPicPr>
          <p:cNvPr id="1033" name="Picture 103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75C5FA-8112-6FFD-A78F-553F4A12E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PIPe</a:t>
            </a:r>
          </a:p>
        </p:txBody>
      </p: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1046" name="Rectangle 1045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4F0955-EAFD-D4FD-9129-4BDFA440CE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18374" y="1134102"/>
            <a:ext cx="6282919" cy="383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1" name="Picture 1050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892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B3A51-7F8A-5EFF-6AA5-9E8D53642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Pıpe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FB745-2043-EE26-FA2B-8615689AC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Look at examples</a:t>
            </a:r>
          </a:p>
          <a:p>
            <a:r>
              <a:rPr lang="en-TR" dirty="0"/>
              <a:t>Check dup and dup2: </a:t>
            </a:r>
            <a:r>
              <a:rPr lang="en-US" dirty="0">
                <a:hlinkClick r:id="rId2"/>
              </a:rPr>
              <a:t>https://www.geeksforgeeks.org/dup-dup2-linux-system-call/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06580189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777</TotalTime>
  <Words>450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-apple-system</vt:lpstr>
      <vt:lpstr>Arial</vt:lpstr>
      <vt:lpstr>Gill Sans MT</vt:lpstr>
      <vt:lpstr>Verdana</vt:lpstr>
      <vt:lpstr>Gallery</vt:lpstr>
      <vt:lpstr>CS307 Recitatıon 3 Fork &amp; PIPE</vt:lpstr>
      <vt:lpstr>FORK</vt:lpstr>
      <vt:lpstr>Differences Between Parent and Child </vt:lpstr>
      <vt:lpstr>Some Functıons in C</vt:lpstr>
      <vt:lpstr>Pipe</vt:lpstr>
      <vt:lpstr>PIPe</vt:lpstr>
      <vt:lpstr>Pıpe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gorkem yar</dc:creator>
  <cp:lastModifiedBy>Niyazi Ahmet Metin</cp:lastModifiedBy>
  <cp:revision>11</cp:revision>
  <dcterms:created xsi:type="dcterms:W3CDTF">2024-03-04T08:52:16Z</dcterms:created>
  <dcterms:modified xsi:type="dcterms:W3CDTF">2025-02-27T10:47:42Z</dcterms:modified>
</cp:coreProperties>
</file>